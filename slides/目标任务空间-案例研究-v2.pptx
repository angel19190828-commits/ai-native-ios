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合计得分</c:v>
                </c:pt>
              </c:strCache>
            </c:strRef>
          </c:tx>
          <c:spPr>
            <a:solidFill>
              <a:srgbClr val="B7C4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7C4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7C4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7C4E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7C4E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更自然入口</c:v>
                  </c:pt>
                  <c:pt idx="1">
                    <c:v>系统长期记忆</c:v>
                  </c:pt>
                  <c:pt idx="2">
                    <c:v>决策支持</c:v>
                  </c:pt>
                  <c:pt idx="3">
                    <c:v>跨应用任务组织</c:v>
                  </c:pt>
                  <c:pt idx="4">
                    <c:v>高度自主执行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</c:v>
                </c:pt>
                <c:pt idx="1">
                  <c:v>19</c:v>
                </c:pt>
                <c:pt idx="2">
                  <c:v>23</c:v>
                </c:pt>
                <c:pt idx="3">
                  <c:v>32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C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51560"/>
            <a:ext cx="2331720" cy="4754880"/>
          </a:xfrm>
          <a:prstGeom prst="roundRect">
            <a:avLst>
              <a:gd name="adj" fmla="val 10980"/>
            </a:avLst>
          </a:prstGeom>
          <a:solidFill>
            <a:srgbClr val="0D1730"/>
          </a:solidFill>
          <a:ln w="15875">
            <a:solidFill>
              <a:srgbClr val="A8C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0576" y="1344168"/>
            <a:ext cx="2075688" cy="4169664"/>
          </a:xfrm>
          <a:prstGeom prst="roundRect">
            <a:avLst>
              <a:gd name="adj" fmla="val 616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898380" y="1179576"/>
            <a:ext cx="640080" cy="128016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/>
        </p:spPr>
      </p:sp>
      <p:sp>
        <p:nvSpPr>
          <p:cNvPr id="5" name="Shape 3"/>
          <p:cNvSpPr/>
          <p:nvPr/>
        </p:nvSpPr>
        <p:spPr>
          <a:xfrm>
            <a:off x="9345168" y="1618488"/>
            <a:ext cx="1746504" cy="45720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0" y="16733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Chen · 面试邀请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9345168" y="2221992"/>
            <a:ext cx="1746504" cy="777240"/>
          </a:xfrm>
          <a:prstGeom prst="roundRect">
            <a:avLst>
              <a:gd name="adj" fmla="val 7059"/>
            </a:avLst>
          </a:prstGeom>
          <a:solidFill>
            <a:srgbClr val="F5F6FA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0" y="227685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下周二 10:30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 Burrard Street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9345168" y="3118104"/>
            <a:ext cx="1746504" cy="384048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10" name="Text 8"/>
          <p:cNvSpPr/>
          <p:nvPr/>
        </p:nvSpPr>
        <p:spPr>
          <a:xfrm>
            <a:off x="9345168" y="3118104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730"/>
                </a:solidFill>
              </a:rPr>
              <a:t>✨ 创建任务计划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9345168" y="3666744"/>
            <a:ext cx="174650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36608" y="3785616"/>
            <a:ext cx="128016" cy="128016"/>
          </a:xfrm>
          <a:prstGeom prst="ellipse">
            <a:avLst/>
          </a:prstGeom>
          <a:solidFill>
            <a:srgbClr val="1FA964"/>
          </a:solidFill>
          <a:ln/>
        </p:spPr>
      </p:sp>
      <p:sp>
        <p:nvSpPr>
          <p:cNvPr id="13" name="Shape 11"/>
          <p:cNvSpPr/>
          <p:nvPr/>
        </p:nvSpPr>
        <p:spPr>
          <a:xfrm>
            <a:off x="9345168" y="4123944"/>
            <a:ext cx="174650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36608" y="4242816"/>
            <a:ext cx="128016" cy="12801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5" name="Shape 13"/>
          <p:cNvSpPr/>
          <p:nvPr/>
        </p:nvSpPr>
        <p:spPr>
          <a:xfrm>
            <a:off x="9345168" y="4581144"/>
            <a:ext cx="174650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36608" y="4700016"/>
            <a:ext cx="128016" cy="128016"/>
          </a:xfrm>
          <a:prstGeom prst="ellipse">
            <a:avLst/>
          </a:prstGeom>
          <a:solidFill>
            <a:srgbClr val="A8C7F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原生 IOS 概念设计 · 案例研究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目标任务空间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iOS 把你看到的信息和表达的目标,变成可查看、可修改、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可执行、可追踪的跨应用任务计划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983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线下面试邀请邮件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91840" y="4709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4983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 · 线框图 · 高保真 · 可交互原型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35040" y="4709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4983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本地模拟,不连接真实 API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背景与初始问题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 已经不是“打开 App”这一种入口了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Siri、系统搜索、通知、桌面小组件、实时活动、快捷指令 —— 用户已经可以从多个位置查找信息、表达需求、执行操作。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0789920" cy="1554480"/>
          </a:xfrm>
          <a:prstGeom prst="roundRect">
            <a:avLst>
              <a:gd name="adj" fmla="val 5882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A8C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371600" y="24688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如何以 AI 原生的方式重新思考 iOS,使 AI 成为系统体验的一部分,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而不是附加在现有应用和功能上的独立工具?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这个项目不做什么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37997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给现有 iOS 加一个聊天机器人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4489704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Text 10"/>
          <p:cNvSpPr/>
          <p:nvPr/>
        </p:nvSpPr>
        <p:spPr>
          <a:xfrm>
            <a:off x="4352544" y="437997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重新设计 Siri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80960" y="4489704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4" name="Text 12"/>
          <p:cNvSpPr/>
          <p:nvPr/>
        </p:nvSpPr>
        <p:spPr>
          <a:xfrm>
            <a:off x="7918704" y="437997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单独做一个 AI 邮件 / 日历 App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992624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488289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重新设计整个 iOS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4992624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8" name="Text 16"/>
          <p:cNvSpPr/>
          <p:nvPr/>
        </p:nvSpPr>
        <p:spPr>
          <a:xfrm>
            <a:off x="4352544" y="488289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 AI 可不经同意控制所有 App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研究方法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研究先于结论 —— 不预支答案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研究逻辑严格按顺序推进,后一步不预设下一步的结论。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753362" y="2834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BC7"/>
                </a:solidFill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17954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7954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开放式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22676" y="2834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BC7"/>
                </a:solidFill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87268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7268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系统功能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91990" y="2834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BC7"/>
                </a:solidFill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6582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6582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典型任务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61304" y="2834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BC7"/>
                </a:solidFill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25896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25896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30618" y="2834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BC7"/>
                </a:solidFill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95210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5210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机会方向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比较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99932" y="2834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BC7"/>
                </a:solidFill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64524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64524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范围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969246" y="2834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BC7"/>
                </a:solidFill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133838" y="2834640"/>
            <a:ext cx="1204722" cy="1234440"/>
          </a:xfrm>
          <a:prstGeom prst="roundRect">
            <a:avLst>
              <a:gd name="adj" fmla="val 7590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33838" y="2834640"/>
            <a:ext cx="120472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D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D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 → 原型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10789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三类证据,全文标注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68680" y="5029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029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苹果官方事实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5394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指向 Apple Developer / Support / Newsroom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89120" y="5029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6B4FBB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0" y="5029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本项目分析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89120" y="5394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自行审查、拆解得出的数据,非官方统计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909560" y="5029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37" name="Text 35"/>
          <p:cNvSpPr/>
          <p:nvPr/>
        </p:nvSpPr>
        <p:spPr>
          <a:xfrm>
            <a:off x="7909560" y="5029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设计推论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09560" y="5394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尚未经用户测试验证的判断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IOS 系统功能审查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七类常见任务入口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基于本项目的功能审查分类,非苹果官方入口数量声明 [1]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1305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🎙️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7919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953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多步骤任务需分次表达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965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3456432" y="21305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5643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267919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系统搜索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56432" y="2953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执行依赖 App 是否暴露 Intent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9632" y="21305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267919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9632" y="2953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不维护跨通知的任务状态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778240" y="1965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21305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94283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42832" y="267919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桌面小组件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42832" y="2953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只读为主,不追踪多步骤任务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538728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" y="3703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42519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实时活动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" y="452628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面向单一事件,非任务规划工具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3538728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31" name="Shape 29"/>
          <p:cNvSpPr/>
          <p:nvPr/>
        </p:nvSpPr>
        <p:spPr>
          <a:xfrm>
            <a:off x="3456432" y="3703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456432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56432" y="42519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快捷指令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56432" y="452628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需提前定义动作/顺序/触发条件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35040" y="3538728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36" name="Shape 34"/>
          <p:cNvSpPr/>
          <p:nvPr/>
        </p:nvSpPr>
        <p:spPr>
          <a:xfrm>
            <a:off x="6199632" y="3703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199632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99632" y="42519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单个 App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99632" y="452628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数据独立,上下文靠用户手动搬运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778240" y="3538728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/>
        </p:spPr>
      </p:sp>
      <p:sp>
        <p:nvSpPr>
          <p:cNvPr id="41" name="Text 39"/>
          <p:cNvSpPr/>
          <p:nvPr/>
        </p:nvSpPr>
        <p:spPr>
          <a:xfrm>
            <a:off x="8924544" y="3666744"/>
            <a:ext cx="22677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这些入口共享同一套系统机制:App Intents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研究发现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四条研究发现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013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C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" y="225856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用户可以从多个位置开始操作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770632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7 类入口查找信息、表达需求或执行操作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3108960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基于本项目的 iOS 功能审查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36792" y="18013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C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336792" y="225856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常见系统功能主要协助局部步骤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36792" y="2770632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步任务中仅 4 步获系统直接/部分辅助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36792" y="3108960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本项目任务流程审查结果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39502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C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04672" y="440740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快捷指令支持多步骤自动化,但需提前建立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04672" y="4919472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更适合已定义好的流程,而非临时目标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5257800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Support · Shortcuts 官方说明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37490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36792" y="39502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C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36792" y="440740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完整目标仍需用户自己组织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36792" y="4919472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次 App 切换,且无统一任务状态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36792" y="5257800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本项目任务流程审查结果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典型任务场景与量化审查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一封面试邀请邮件,17 个步骤,6 个 App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本项目任务流程审查结果 —— 基于当前 iOS 实际操作路径的拆解与计数,不代表苹果官方统计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645920" cy="1554480"/>
          </a:xfrm>
          <a:prstGeom prst="roundRect">
            <a:avLst>
              <a:gd name="adj" fmla="val 5882"/>
            </a:avLst>
          </a:prstGeom>
          <a:solidFill>
            <a:srgbClr val="0D1730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29718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总步骤数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2103120"/>
            <a:ext cx="1645920" cy="1554480"/>
          </a:xfrm>
          <a:prstGeom prst="roundRect">
            <a:avLst>
              <a:gd name="adj" fmla="val 5882"/>
            </a:avLst>
          </a:prstGeom>
          <a:solidFill>
            <a:srgbClr val="0D1730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2240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50592" y="29718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涉及 App 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2103120"/>
            <a:ext cx="1645920" cy="1554480"/>
          </a:xfrm>
          <a:prstGeom prst="roundRect">
            <a:avLst>
              <a:gd name="adj" fmla="val 5882"/>
            </a:avLst>
          </a:prstGeom>
          <a:solidFill>
            <a:srgbClr val="0D1730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240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279392" y="29718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切换次数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1645920" cy="1554480"/>
          </a:xfrm>
          <a:prstGeom prst="roundRect">
            <a:avLst>
              <a:gd name="adj" fmla="val 5882"/>
            </a:avLst>
          </a:prstGeom>
          <a:solidFill>
            <a:srgbClr val="0D1730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240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08192" y="29718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系统可辅助步骤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3840" y="2103120"/>
            <a:ext cx="1645920" cy="1554480"/>
          </a:xfrm>
          <a:prstGeom prst="roundRect">
            <a:avLst>
              <a:gd name="adj" fmla="val 5882"/>
            </a:avLst>
          </a:prstGeom>
          <a:solidFill>
            <a:srgbClr val="0D1730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240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936992" y="29718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仍需用户判断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92640" y="2103120"/>
            <a:ext cx="1645920" cy="1554480"/>
          </a:xfrm>
          <a:prstGeom prst="roundRect">
            <a:avLst>
              <a:gd name="adj" fmla="val 5882"/>
            </a:avLst>
          </a:prstGeom>
          <a:solidFill>
            <a:srgbClr val="0D1730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2240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765792" y="29718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统一任务状态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单一目标、单一信息来源 —— 用户却要在 6 个 App 间自行搬运上下文,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没有统一状态,也没有清晰的失败恢复路径。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A54"/>
          </a:solidFill>
          <a:ln w="9525">
            <a:solidFill>
              <a:srgbClr val="A8C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074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920240" y="507492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57400" y="5074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A54"/>
          </a:solidFill>
          <a:ln w="9525">
            <a:solidFill>
              <a:srgbClr val="A8C7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5074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日历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29000" y="507492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66160" y="5074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A54"/>
          </a:solidFill>
          <a:ln w="9525">
            <a:solidFill>
              <a:srgbClr val="A8C7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5074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37760" y="507492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74920" y="5074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A54"/>
          </a:solidFill>
          <a:ln w="9525">
            <a:solidFill>
              <a:srgbClr val="A8C7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5074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提醒事项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46520" y="507492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0" y="5074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A54"/>
          </a:solidFill>
          <a:ln w="9525">
            <a:solidFill>
              <a:srgbClr val="A8C7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5074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955280" y="507492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092440" y="5074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A54"/>
          </a:solidFill>
          <a:ln w="9525">
            <a:solidFill>
              <a:srgbClr val="A8C7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92440" y="5074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机会方向比较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五个方向,一个胜出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评分基于本项目对研究发现的相关性判断(设计推论),不是用户调研得分。八个维度综合评估。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920240"/>
            <a:ext cx="3017520" cy="4206240"/>
          </a:xfrm>
          <a:prstGeom prst="roundRect">
            <a:avLst>
              <a:gd name="adj" fmla="val 3030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1812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跨应用任务组织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18120" y="26517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唯一同时对应研究发现 02(局部辅助)与发现 04(用户自行组织),并能把其他方向收纳为“计划中一步”的方向。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18120" y="4297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7818120" y="5074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合计得分 / 满分 40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最终设计范围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从开放式问题到最终设计问题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789920" cy="1234440"/>
          </a:xfrm>
          <a:prstGeom prst="roundRect">
            <a:avLst>
              <a:gd name="adj" fmla="val 7407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如何利用 AI 原生能力,让 iOS 将用户目标转化为清晰、可执行、可追踪的跨应用任务,同时确保信息来源透明、重要操作可确认、结果可修改并且操作可撤销?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246120"/>
            <a:ext cx="365760" cy="365760"/>
          </a:xfrm>
          <a:prstGeom prst="ellipse">
            <a:avLst/>
          </a:prstGeom>
          <a:solidFill>
            <a:srgbClr val="1FA96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范围内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从一封事件类邮件开始,识别时间、地点、联系人和准备要求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检查日历冲突,生成任务计划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让用户查看和修改计划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确认后创建日历、提醒和路线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显示整体进度,支持暂停、重试和撤销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971800"/>
            <a:ext cx="530352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3246120"/>
            <a:ext cx="365760" cy="36576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范围外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7947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所有类型的跨应用任务(仅面试邀请这一场景)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完全自主且无需确认的后台代理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自动付款 / 购买 / 取消预约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自动代表用户发送敏感信息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为所有第三方 App 制作真实集成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设计原则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七条设计原则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5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6479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170" dirty="0"/>
          </a:p>
        </p:txBody>
      </p:sp>
      <p:sp>
        <p:nvSpPr>
          <p:cNvPr id="7" name="Text 5"/>
          <p:cNvSpPr/>
          <p:nvPr/>
        </p:nvSpPr>
        <p:spPr>
          <a:xfrm>
            <a:off x="713232" y="22585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目标优先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56032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先显示用户想完成什么,再显示需要调用哪些 App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5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176479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👁️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3456432" y="22585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理解必须可见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56432" y="256032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用户能看到系统提取了哪些时间、地点、要求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5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9632" y="176479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6199632" y="22585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来源必须透明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99632" y="256032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每条关键信息可查看来源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78240" y="160020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5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942832" y="176479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942832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✎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8942832" y="22585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计划必须可编辑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42832" y="256032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用户可删除、修改和重新排序步骤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5F6FA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368503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713232" y="41788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风险分级确认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3232" y="448056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低风险自动 · 中风险批量 · 高风险单独确认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35204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5F6FA"/>
          </a:solidFill>
          <a:ln/>
        </p:spPr>
      </p:sp>
      <p:sp>
        <p:nvSpPr>
          <p:cNvPr id="30" name="Shape 28"/>
          <p:cNvSpPr/>
          <p:nvPr/>
        </p:nvSpPr>
        <p:spPr>
          <a:xfrm>
            <a:off x="3456432" y="368503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456432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1C1C1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📶</a:t>
            </a:r>
            <a:endParaRPr lang="en-US" sz="1170" dirty="0"/>
          </a:p>
        </p:txBody>
      </p:sp>
      <p:sp>
        <p:nvSpPr>
          <p:cNvPr id="32" name="Text 30"/>
          <p:cNvSpPr/>
          <p:nvPr/>
        </p:nvSpPr>
        <p:spPr>
          <a:xfrm>
            <a:off x="3456432" y="41788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状态持续可见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456432" y="448056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待处理/进行中/等待确认/完成/失败/取消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35204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14213D"/>
          </a:solidFill>
          <a:ln/>
        </p:spPr>
      </p:sp>
      <p:sp>
        <p:nvSpPr>
          <p:cNvPr id="35" name="Shape 33"/>
          <p:cNvSpPr/>
          <p:nvPr/>
        </p:nvSpPr>
        <p:spPr>
          <a:xfrm>
            <a:off x="6199632" y="3685032"/>
            <a:ext cx="411480" cy="41148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36" name="Text 34"/>
          <p:cNvSpPr/>
          <p:nvPr/>
        </p:nvSpPr>
        <p:spPr>
          <a:xfrm>
            <a:off x="6199632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0D173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↺</a:t>
            </a:r>
            <a:endParaRPr lang="en-US" sz="1170" dirty="0"/>
          </a:p>
        </p:txBody>
      </p:sp>
      <p:sp>
        <p:nvSpPr>
          <p:cNvPr id="37" name="Text 35"/>
          <p:cNvSpPr/>
          <p:nvPr/>
        </p:nvSpPr>
        <p:spPr>
          <a:xfrm>
            <a:off x="6199632" y="41788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可撤销可恢复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199632" y="448056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每个动作都可撤销、重试、查看失败原因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信息架构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“目标任务空间”不是新 App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而是系统在识别到可执行目标时生成的系统级任务界面,以任务状态为主轴,而非页面导航。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48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 App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(触发点)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2148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7BBC7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4206240" cy="1463040"/>
          </a:xfrm>
          <a:prstGeom prst="roundRect">
            <a:avLst>
              <a:gd name="adj" fmla="val 6250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目标任务空间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49040" y="23957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提取信息 → 计划 → 确认 → 执行 → 完成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(核心界面,系统级,非独立 App)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0" y="3383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持续投影到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8C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40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锁屏 / 实时活动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38404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8C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840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主屏幕小组件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38404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8C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840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38404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8C7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3840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/ 系统搜索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FFF1D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0749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9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关键区别:四处均读取同一个任务状态对象,而不是四套独立界面。这也是与快捷指令的本质区别 —— 用户先表达目标,系统识别步骤并生成可解释的计划,而非用户提前编排流程。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用户流程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流程 A 是主干,B–E 是它的分支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21408" cy="3931920"/>
          </a:xfrm>
          <a:prstGeom prst="roundRect">
            <a:avLst>
              <a:gd name="adj" fmla="val 4310"/>
            </a:avLst>
          </a:prstGeom>
          <a:solidFill>
            <a:srgbClr val="F5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5146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从邮件开始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3063240"/>
            <a:ext cx="1792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识别目标 → 提取信息 → 生成计划 → 批量确认 → 执行 → 完成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07208" y="1691640"/>
            <a:ext cx="2121408" cy="3931920"/>
          </a:xfrm>
          <a:prstGeom prst="roundRect">
            <a:avLst>
              <a:gd name="adj" fmla="val 4310"/>
            </a:avLst>
          </a:prstGeom>
          <a:solidFill>
            <a:srgbClr val="F5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2971800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B4FBB"/>
          </a:solidFill>
          <a:ln/>
        </p:spPr>
      </p:sp>
      <p:sp>
        <p:nvSpPr>
          <p:cNvPr id="11" name="Text 9"/>
          <p:cNvSpPr/>
          <p:nvPr/>
        </p:nvSpPr>
        <p:spPr>
          <a:xfrm>
            <a:off x="29718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71800" y="25146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发现冲突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71800" y="3063240"/>
            <a:ext cx="1792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不自动覆盖已有日程,联系 Alex 需二次确认后才真正发送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65776" y="1691640"/>
            <a:ext cx="2121408" cy="3931920"/>
          </a:xfrm>
          <a:prstGeom prst="roundRect">
            <a:avLst>
              <a:gd name="adj" fmla="val 4310"/>
            </a:avLst>
          </a:prstGeom>
          <a:solidFill>
            <a:srgbClr val="F5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9F1C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30368" y="25146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信息不确定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30368" y="3063240"/>
            <a:ext cx="1792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“下周二”需用户确认具体日期,系统展示自己的解释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24344" y="1691640"/>
            <a:ext cx="2121408" cy="3931920"/>
          </a:xfrm>
          <a:prstGeom prst="roundRect">
            <a:avLst>
              <a:gd name="adj" fmla="val 4310"/>
            </a:avLst>
          </a:prstGeom>
          <a:solidFill>
            <a:srgbClr val="F5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488936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3B30"/>
          </a:solidFill>
          <a:ln/>
        </p:spPr>
      </p:sp>
      <p:sp>
        <p:nvSpPr>
          <p:cNvPr id="21" name="Text 19"/>
          <p:cNvSpPr/>
          <p:nvPr/>
        </p:nvSpPr>
        <p:spPr>
          <a:xfrm>
            <a:off x="748893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88936" y="25146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执行失败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88936" y="3063240"/>
            <a:ext cx="1792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作品集查找失败≠整体失败,提供 4 种恢复选项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82912" y="1691640"/>
            <a:ext cx="2121408" cy="3931920"/>
          </a:xfrm>
          <a:prstGeom prst="roundRect">
            <a:avLst>
              <a:gd name="adj" fmla="val 4310"/>
            </a:avLst>
          </a:prstGeom>
          <a:solidFill>
            <a:srgbClr val="F5F6FA"/>
          </a:solidFill>
          <a:ln/>
        </p:spPr>
      </p:sp>
      <p:sp>
        <p:nvSpPr>
          <p:cNvPr id="25" name="Shape 23"/>
          <p:cNvSpPr/>
          <p:nvPr/>
        </p:nvSpPr>
        <p:spPr>
          <a:xfrm>
            <a:off x="9747504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FA964"/>
          </a:solidFill>
          <a:ln/>
        </p:spPr>
      </p:sp>
      <p:sp>
        <p:nvSpPr>
          <p:cNvPr id="26" name="Text 24"/>
          <p:cNvSpPr/>
          <p:nvPr/>
        </p:nvSpPr>
        <p:spPr>
          <a:xfrm>
            <a:off x="9747504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47504" y="25146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撤销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747504" y="3063240"/>
            <a:ext cx="1792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已完成操作仍可单独撤销,附影响说明与二次确认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 B、C、D 均为流程 A 主干在特定条件下的分支,共享同一状态机,而非三套独立系统。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风险分级与确认机制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不同风险,不同确认方式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4480560"/>
          </a:xfrm>
          <a:prstGeom prst="roundRect">
            <a:avLst>
              <a:gd name="adj" fmla="val 2703"/>
            </a:avLst>
          </a:prstGeom>
          <a:solidFill>
            <a:srgbClr val="0D1730"/>
          </a:solidFill>
          <a:ln w="19050">
            <a:solidFill>
              <a:srgbClr val="1FA9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FA96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低风险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查看信息 · 查找文件 · 计算路线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确认方式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FA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自动准备结果,无需确认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本场景中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检查冲突 · 查看路线 · 查找作品集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1691640"/>
            <a:ext cx="3383280" cy="4480560"/>
          </a:xfrm>
          <a:prstGeom prst="roundRect">
            <a:avLst>
              <a:gd name="adj" fmla="val 2703"/>
            </a:avLst>
          </a:prstGeom>
          <a:solidFill>
            <a:srgbClr val="0D1730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中风险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创建日历 · 创建提醒 · 修改日程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2628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确认方式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40233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批量确认,可逐项取消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26280" y="4709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本场景中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4983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创建面试事件 · 设置出发/准备提醒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55280" y="1691640"/>
            <a:ext cx="3383280" cy="4480560"/>
          </a:xfrm>
          <a:prstGeom prst="roundRect">
            <a:avLst>
              <a:gd name="adj" fmla="val 2703"/>
            </a:avLst>
          </a:prstGeom>
          <a:solidFill>
            <a:srgbClr val="0D1730"/>
          </a:solidFill>
          <a:ln w="19050">
            <a:solidFill>
              <a:srgbClr val="FF3B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发送消息 · 取消预约 · 支付 · 分享敏感文件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确认方式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0233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必须单独确认,不进入批量列表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0" y="4709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本场景中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4983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 Alex 发送改期消息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低保真线框图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屏,先覆盖流程,不做视觉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方框仅表示结构与层级,不代表最终视觉样式。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737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655064"/>
            <a:ext cx="1627632" cy="146304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874520"/>
            <a:ext cx="1627632" cy="5166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2446020"/>
            <a:ext cx="1627632" cy="516636"/>
          </a:xfrm>
          <a:prstGeom prst="rect">
            <a:avLst/>
          </a:prstGeom>
          <a:ln w="6350">
            <a:solidFill>
              <a:srgbClr val="00000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30723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邮件阅读界面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14016" y="1600200"/>
            <a:ext cx="1737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655064"/>
            <a:ext cx="1627632" cy="146304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87452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225552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63652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414016" y="30723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AI 识别浮层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79392" y="1600200"/>
            <a:ext cx="1737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34256" y="1655064"/>
            <a:ext cx="1627632" cy="146304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34256" y="1874520"/>
            <a:ext cx="1627632" cy="5166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4256" y="2446020"/>
            <a:ext cx="1627632" cy="516636"/>
          </a:xfrm>
          <a:prstGeom prst="rect">
            <a:avLst/>
          </a:prstGeom>
          <a:ln w="6350">
            <a:solidFill>
              <a:srgbClr val="00000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279392" y="30723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信息确认页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44768" y="1600200"/>
            <a:ext cx="1737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1655064"/>
            <a:ext cx="1627632" cy="146304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187452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225552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263652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144768" y="30723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任务计划生成页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10144" y="1600200"/>
            <a:ext cx="1737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65008" y="1655064"/>
            <a:ext cx="1627632" cy="146304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65008" y="1874520"/>
            <a:ext cx="1627632" cy="5166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65008" y="2446020"/>
            <a:ext cx="1627632" cy="516636"/>
          </a:xfrm>
          <a:prstGeom prst="rect">
            <a:avLst/>
          </a:prstGeom>
          <a:ln w="6350">
            <a:solidFill>
              <a:srgbClr val="00000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8010144" y="30723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批量确认页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875520" y="1600200"/>
            <a:ext cx="1737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30384" y="1655064"/>
            <a:ext cx="1627632" cy="146304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30384" y="187452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30384" y="225552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30384" y="263652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9875520" y="30723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冲突处理页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" y="3474720"/>
            <a:ext cx="1737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" y="3529584"/>
            <a:ext cx="1627632" cy="146304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" y="3749040"/>
            <a:ext cx="1627632" cy="5166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" y="4320540"/>
            <a:ext cx="1627632" cy="516636"/>
          </a:xfrm>
          <a:prstGeom prst="rect">
            <a:avLst/>
          </a:prstGeom>
          <a:ln w="6350">
            <a:solidFill>
              <a:srgbClr val="00000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548640" y="49469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消息草稿确认页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414016" y="3474720"/>
            <a:ext cx="1737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68880" y="3529584"/>
            <a:ext cx="1627632" cy="146304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68880" y="374904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68880" y="413004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68880" y="451104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2414016" y="49469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任务执行进度页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279392" y="3474720"/>
            <a:ext cx="1737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34256" y="3529584"/>
            <a:ext cx="1627632" cy="146304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34256" y="3749040"/>
            <a:ext cx="1627632" cy="5166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34256" y="4320540"/>
            <a:ext cx="1627632" cy="516636"/>
          </a:xfrm>
          <a:prstGeom prst="rect">
            <a:avLst/>
          </a:prstGeom>
          <a:ln w="6350">
            <a:solidFill>
              <a:srgbClr val="000000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4279392" y="49469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文件查找页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44768" y="3474720"/>
            <a:ext cx="1737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99632" y="3529584"/>
            <a:ext cx="1627632" cy="146304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99632" y="374904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99632" y="413004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99632" y="451104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6144768" y="49469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失败恢复页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010144" y="3474720"/>
            <a:ext cx="1737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65008" y="3529584"/>
            <a:ext cx="1627632" cy="146304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65008" y="3749040"/>
            <a:ext cx="1627632" cy="5166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65008" y="4320540"/>
            <a:ext cx="1627632" cy="516636"/>
          </a:xfrm>
          <a:prstGeom prst="rect">
            <a:avLst/>
          </a:prstGeom>
          <a:ln w="6350">
            <a:solidFill>
              <a:srgbClr val="000000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8010144" y="49469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任务完成页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875520" y="3474720"/>
            <a:ext cx="1737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930384" y="3529584"/>
            <a:ext cx="1627632" cy="146304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930384" y="374904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930384" y="413004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930384" y="4511040"/>
            <a:ext cx="1627632" cy="326136"/>
          </a:xfrm>
          <a:prstGeom prst="rect">
            <a:avLst/>
          </a:prstGeom>
          <a:ln w="6350">
            <a:solidFill>
              <a:srgbClr val="000000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9875520" y="49469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系统级持续状态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高保真界面与可交互原型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从邮件到完成 —— 三个关键屏幕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468880" cy="4160520"/>
          </a:xfrm>
          <a:prstGeom prst="roundRect">
            <a:avLst>
              <a:gd name="adj" fmla="val 9630"/>
            </a:avLst>
          </a:prstGeom>
          <a:solidFill>
            <a:srgbClr val="0D1730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947672"/>
            <a:ext cx="2249424" cy="364845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764792" y="1801368"/>
            <a:ext cx="585216" cy="118872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221992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F5F6FA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222199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Chen · 面试邀请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097280" y="2724912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7F7F9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2779776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Tuesday 10:30 a.m.</a:t>
            </a:r>
            <a:endParaRPr lang="en-US" sz="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 Burrard Street</a:t>
            </a:r>
            <a:endParaRPr lang="en-US" sz="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portfolio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1097280" y="3685032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368503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2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这封邮件包含一个需要</a:t>
            </a:r>
            <a:endParaRPr lang="en-US" sz="6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2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准备的面试事件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822960" y="5961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 + AI 建议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86200" y="1691640"/>
            <a:ext cx="2468880" cy="4160520"/>
          </a:xfrm>
          <a:prstGeom prst="roundRect">
            <a:avLst>
              <a:gd name="adj" fmla="val 9630"/>
            </a:avLst>
          </a:prstGeom>
          <a:solidFill>
            <a:srgbClr val="0D1730"/>
          </a:solidFill>
          <a:ln/>
        </p:spPr>
      </p:sp>
      <p:sp>
        <p:nvSpPr>
          <p:cNvPr id="15" name="Shape 13"/>
          <p:cNvSpPr/>
          <p:nvPr/>
        </p:nvSpPr>
        <p:spPr>
          <a:xfrm>
            <a:off x="3995928" y="1947672"/>
            <a:ext cx="2249424" cy="364845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828032" y="1801368"/>
            <a:ext cx="585216" cy="118872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/>
        </p:spPr>
      </p:sp>
      <p:sp>
        <p:nvSpPr>
          <p:cNvPr id="17" name="Shape 15"/>
          <p:cNvSpPr/>
          <p:nvPr/>
        </p:nvSpPr>
        <p:spPr>
          <a:xfrm>
            <a:off x="4160520" y="22219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/>
        </p:spPr>
      </p:sp>
      <p:sp>
        <p:nvSpPr>
          <p:cNvPr id="18" name="Shape 16"/>
          <p:cNvSpPr/>
          <p:nvPr/>
        </p:nvSpPr>
        <p:spPr>
          <a:xfrm>
            <a:off x="4233672" y="2368296"/>
            <a:ext cx="91440" cy="91440"/>
          </a:xfrm>
          <a:prstGeom prst="ellipse">
            <a:avLst/>
          </a:prstGeom>
          <a:solidFill>
            <a:srgbClr val="1FA964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22219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检查日历冲突</a:t>
            </a:r>
            <a:endParaRPr lang="en-US" sz="630" dirty="0"/>
          </a:p>
        </p:txBody>
      </p:sp>
      <p:sp>
        <p:nvSpPr>
          <p:cNvPr id="20" name="Text 18"/>
          <p:cNvSpPr/>
          <p:nvPr/>
        </p:nvSpPr>
        <p:spPr>
          <a:xfrm>
            <a:off x="5513832" y="222199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b="1" dirty="0">
                <a:solidFill>
                  <a:srgbClr val="1FA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低风险</a:t>
            </a:r>
            <a:endParaRPr lang="en-US" sz="530" dirty="0"/>
          </a:p>
        </p:txBody>
      </p:sp>
      <p:sp>
        <p:nvSpPr>
          <p:cNvPr id="21" name="Shape 19"/>
          <p:cNvSpPr/>
          <p:nvPr/>
        </p:nvSpPr>
        <p:spPr>
          <a:xfrm>
            <a:off x="4160520" y="26791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233672" y="2825496"/>
            <a:ext cx="91440" cy="9144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26791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创建面试日历事件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5513832" y="267919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中风险</a:t>
            </a:r>
            <a:endParaRPr lang="en-US" sz="530" dirty="0"/>
          </a:p>
        </p:txBody>
      </p:sp>
      <p:sp>
        <p:nvSpPr>
          <p:cNvPr id="25" name="Shape 23"/>
          <p:cNvSpPr/>
          <p:nvPr/>
        </p:nvSpPr>
        <p:spPr>
          <a:xfrm>
            <a:off x="4160520" y="31363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/>
        </p:spPr>
      </p:sp>
      <p:sp>
        <p:nvSpPr>
          <p:cNvPr id="26" name="Shape 24"/>
          <p:cNvSpPr/>
          <p:nvPr/>
        </p:nvSpPr>
        <p:spPr>
          <a:xfrm>
            <a:off x="4233672" y="3282696"/>
            <a:ext cx="91440" cy="91440"/>
          </a:xfrm>
          <a:prstGeom prst="ellipse">
            <a:avLst/>
          </a:prstGeom>
          <a:solidFill>
            <a:srgbClr val="1FA964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3136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查看路线</a:t>
            </a:r>
            <a:endParaRPr lang="en-US" sz="630" dirty="0"/>
          </a:p>
        </p:txBody>
      </p:sp>
      <p:sp>
        <p:nvSpPr>
          <p:cNvPr id="28" name="Text 26"/>
          <p:cNvSpPr/>
          <p:nvPr/>
        </p:nvSpPr>
        <p:spPr>
          <a:xfrm>
            <a:off x="5513832" y="313639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b="1" dirty="0">
                <a:solidFill>
                  <a:srgbClr val="1FA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低风险</a:t>
            </a:r>
            <a:endParaRPr lang="en-US" sz="530" dirty="0"/>
          </a:p>
        </p:txBody>
      </p:sp>
      <p:sp>
        <p:nvSpPr>
          <p:cNvPr id="29" name="Shape 27"/>
          <p:cNvSpPr/>
          <p:nvPr/>
        </p:nvSpPr>
        <p:spPr>
          <a:xfrm>
            <a:off x="4160520" y="35935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233672" y="3739896"/>
            <a:ext cx="91440" cy="9144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0" y="35935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设置出发提醒</a:t>
            </a:r>
            <a:endParaRPr lang="en-US" sz="630" dirty="0"/>
          </a:p>
        </p:txBody>
      </p:sp>
      <p:sp>
        <p:nvSpPr>
          <p:cNvPr id="32" name="Text 30"/>
          <p:cNvSpPr/>
          <p:nvPr/>
        </p:nvSpPr>
        <p:spPr>
          <a:xfrm>
            <a:off x="5513832" y="359359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中风险</a:t>
            </a:r>
            <a:endParaRPr lang="en-US" sz="530" dirty="0"/>
          </a:p>
        </p:txBody>
      </p:sp>
      <p:sp>
        <p:nvSpPr>
          <p:cNvPr id="33" name="Shape 31"/>
          <p:cNvSpPr/>
          <p:nvPr/>
        </p:nvSpPr>
        <p:spPr>
          <a:xfrm>
            <a:off x="4160520" y="40507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7F7F9"/>
          </a:solidFill>
          <a:ln/>
        </p:spPr>
      </p:sp>
      <p:sp>
        <p:nvSpPr>
          <p:cNvPr id="34" name="Shape 32"/>
          <p:cNvSpPr/>
          <p:nvPr/>
        </p:nvSpPr>
        <p:spPr>
          <a:xfrm>
            <a:off x="4233672" y="4197096"/>
            <a:ext cx="91440" cy="91440"/>
          </a:xfrm>
          <a:prstGeom prst="ellipse">
            <a:avLst/>
          </a:prstGeom>
          <a:solidFill>
            <a:srgbClr val="1FA964"/>
          </a:solidFill>
          <a:ln/>
        </p:spPr>
      </p:sp>
      <p:sp>
        <p:nvSpPr>
          <p:cNvPr id="35" name="Text 33"/>
          <p:cNvSpPr/>
          <p:nvPr/>
        </p:nvSpPr>
        <p:spPr>
          <a:xfrm>
            <a:off x="4389120" y="40507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查找作品集</a:t>
            </a:r>
            <a:endParaRPr lang="en-US" sz="630" dirty="0"/>
          </a:p>
        </p:txBody>
      </p:sp>
      <p:sp>
        <p:nvSpPr>
          <p:cNvPr id="36" name="Text 34"/>
          <p:cNvSpPr/>
          <p:nvPr/>
        </p:nvSpPr>
        <p:spPr>
          <a:xfrm>
            <a:off x="5513832" y="405079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b="1" dirty="0">
                <a:solidFill>
                  <a:srgbClr val="1FA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低风险</a:t>
            </a:r>
            <a:endParaRPr lang="en-US" sz="530" dirty="0"/>
          </a:p>
        </p:txBody>
      </p:sp>
      <p:sp>
        <p:nvSpPr>
          <p:cNvPr id="37" name="Text 35"/>
          <p:cNvSpPr/>
          <p:nvPr/>
        </p:nvSpPr>
        <p:spPr>
          <a:xfrm>
            <a:off x="3886200" y="5961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任务计划(风险分级)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949440" y="1691640"/>
            <a:ext cx="2468880" cy="4160520"/>
          </a:xfrm>
          <a:prstGeom prst="roundRect">
            <a:avLst>
              <a:gd name="adj" fmla="val 9630"/>
            </a:avLst>
          </a:prstGeom>
          <a:solidFill>
            <a:srgbClr val="0D1730"/>
          </a:solidFill>
          <a:ln/>
        </p:spPr>
      </p:sp>
      <p:sp>
        <p:nvSpPr>
          <p:cNvPr id="39" name="Shape 37"/>
          <p:cNvSpPr/>
          <p:nvPr/>
        </p:nvSpPr>
        <p:spPr>
          <a:xfrm>
            <a:off x="7059168" y="1947672"/>
            <a:ext cx="2249424" cy="364845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7891272" y="1801368"/>
            <a:ext cx="585216" cy="118872"/>
          </a:xfrm>
          <a:prstGeom prst="roundRect">
            <a:avLst>
              <a:gd name="adj" fmla="val 50000"/>
            </a:avLst>
          </a:prstGeom>
          <a:solidFill>
            <a:srgbClr val="0D1730"/>
          </a:solidFill>
          <a:ln/>
        </p:spPr>
      </p:sp>
      <p:sp>
        <p:nvSpPr>
          <p:cNvPr id="41" name="Shape 39"/>
          <p:cNvSpPr/>
          <p:nvPr/>
        </p:nvSpPr>
        <p:spPr>
          <a:xfrm>
            <a:off x="7223760" y="2221992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4F7EC"/>
          </a:solidFill>
          <a:ln/>
        </p:spPr>
      </p:sp>
      <p:sp>
        <p:nvSpPr>
          <p:cNvPr id="42" name="Text 40"/>
          <p:cNvSpPr/>
          <p:nvPr/>
        </p:nvSpPr>
        <p:spPr>
          <a:xfrm>
            <a:off x="7296912" y="222199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A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面试准备任务已处理完毕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7223760" y="2862072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7F7F9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0" y="2916936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56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日期时间</a:t>
            </a:r>
            <a:endParaRPr lang="en-US" sz="5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6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2026年8月4日 上午10:30</a:t>
            </a:r>
            <a:endParaRPr lang="en-US" sz="560" dirty="0"/>
          </a:p>
          <a:p>
            <a:pPr indent="0" marL="0">
              <a:lnSpc>
                <a:spcPct val="125000"/>
              </a:lnSpc>
              <a:buNone/>
            </a:pPr>
            <a:endParaRPr lang="en-US" sz="5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6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地点</a:t>
            </a:r>
            <a:endParaRPr lang="en-US" sz="5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6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 Burrard Street</a:t>
            </a:r>
            <a:endParaRPr lang="en-US" sz="560" dirty="0"/>
          </a:p>
          <a:p>
            <a:pPr indent="0" marL="0">
              <a:lnSpc>
                <a:spcPct val="125000"/>
              </a:lnSpc>
              <a:buNone/>
            </a:pPr>
            <a:endParaRPr lang="en-US" sz="5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6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作品集</a:t>
            </a:r>
            <a:endParaRPr lang="en-US" sz="5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6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Portfolio_2026_Final_v3.pdf</a:t>
            </a:r>
            <a:endParaRPr lang="en-US" sz="560" dirty="0"/>
          </a:p>
        </p:txBody>
      </p:sp>
      <p:sp>
        <p:nvSpPr>
          <p:cNvPr id="45" name="Shape 43"/>
          <p:cNvSpPr/>
          <p:nvPr/>
        </p:nvSpPr>
        <p:spPr>
          <a:xfrm>
            <a:off x="7223760" y="4187952"/>
            <a:ext cx="591312" cy="320040"/>
          </a:xfrm>
          <a:prstGeom prst="roundRect">
            <a:avLst>
              <a:gd name="adj" fmla="val 17143"/>
            </a:avLst>
          </a:prstGeom>
          <a:solidFill>
            <a:srgbClr val="EDEDF2"/>
          </a:solidFill>
          <a:ln/>
        </p:spPr>
      </p:sp>
      <p:sp>
        <p:nvSpPr>
          <p:cNvPr id="46" name="Text 44"/>
          <p:cNvSpPr/>
          <p:nvPr/>
        </p:nvSpPr>
        <p:spPr>
          <a:xfrm>
            <a:off x="7223760" y="4187952"/>
            <a:ext cx="591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打开日历</a:t>
            </a:r>
            <a:endParaRPr lang="en-US" sz="520" dirty="0"/>
          </a:p>
        </p:txBody>
      </p:sp>
      <p:sp>
        <p:nvSpPr>
          <p:cNvPr id="47" name="Shape 45"/>
          <p:cNvSpPr/>
          <p:nvPr/>
        </p:nvSpPr>
        <p:spPr>
          <a:xfrm>
            <a:off x="7888224" y="4187952"/>
            <a:ext cx="591312" cy="320040"/>
          </a:xfrm>
          <a:prstGeom prst="roundRect">
            <a:avLst>
              <a:gd name="adj" fmla="val 17143"/>
            </a:avLst>
          </a:prstGeom>
          <a:solidFill>
            <a:srgbClr val="EDEDF2"/>
          </a:solidFill>
          <a:ln/>
        </p:spPr>
      </p:sp>
      <p:sp>
        <p:nvSpPr>
          <p:cNvPr id="48" name="Text 46"/>
          <p:cNvSpPr/>
          <p:nvPr/>
        </p:nvSpPr>
        <p:spPr>
          <a:xfrm>
            <a:off x="7888224" y="4187952"/>
            <a:ext cx="591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查看路线</a:t>
            </a:r>
            <a:endParaRPr lang="en-US" sz="520" dirty="0"/>
          </a:p>
        </p:txBody>
      </p:sp>
      <p:sp>
        <p:nvSpPr>
          <p:cNvPr id="49" name="Shape 47"/>
          <p:cNvSpPr/>
          <p:nvPr/>
        </p:nvSpPr>
        <p:spPr>
          <a:xfrm>
            <a:off x="8552688" y="4187952"/>
            <a:ext cx="591312" cy="320040"/>
          </a:xfrm>
          <a:prstGeom prst="roundRect">
            <a:avLst>
              <a:gd name="adj" fmla="val 17143"/>
            </a:avLst>
          </a:prstGeom>
          <a:solidFill>
            <a:srgbClr val="EDEDF2"/>
          </a:solidFill>
          <a:ln/>
        </p:spPr>
      </p:sp>
      <p:sp>
        <p:nvSpPr>
          <p:cNvPr id="50" name="Text 48"/>
          <p:cNvSpPr/>
          <p:nvPr/>
        </p:nvSpPr>
        <p:spPr>
          <a:xfrm>
            <a:off x="8552688" y="4187952"/>
            <a:ext cx="591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查看文件</a:t>
            </a:r>
            <a:endParaRPr lang="en-US" sz="520" dirty="0"/>
          </a:p>
        </p:txBody>
      </p:sp>
      <p:sp>
        <p:nvSpPr>
          <p:cNvPr id="51" name="Text 49"/>
          <p:cNvSpPr/>
          <p:nvPr/>
        </p:nvSpPr>
        <p:spPr>
          <a:xfrm>
            <a:off x="6949440" y="5961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完成态(可撤销)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235440" y="1691640"/>
            <a:ext cx="2194560" cy="41605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1C1E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464040" y="1965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HTML/CSS/JS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无构建、无依赖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本地模拟数据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464040" y="30175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覆盖流程 A–E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全部分支状态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可点击、可回退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支持重置演示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风险与限制 · 下一步验证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诚实标注假设,而不是掩盖问题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FFF1D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已知限制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全部数据为虚构模拟数据,不连接真实 Apple API</a:t>
            </a:r>
            <a:endParaRPr lang="en-US" sz="12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仅覆盖面试邀请这一个场景,不代表所有跨应用任务</a:t>
            </a:r>
            <a:endParaRPr lang="en-US" sz="12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执行进度为确定性脚本演示,非真实异步调用</a:t>
            </a:r>
            <a:endParaRPr lang="en-US" sz="12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尚未进行真实用户测试,判断均为设计推论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0" y="160020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下一步验证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28600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用户是否理解系统生成的任务计划</a:t>
            </a:r>
            <a:endParaRPr lang="en-US" sz="12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用户能否发现 AI 提取错误,能否处理冲突与失败恢复</a:t>
            </a:r>
            <a:endParaRPr lang="en-US" sz="12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用户是否信任批量确认,能否成功撤销操作</a:t>
            </a:r>
            <a:endParaRPr lang="en-US" sz="12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用户是否认为该系统比手动切换 App 更简单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目标任务空间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已经提供入口、局部辅助和预设自动化 —— 缺的是根据用户当前目标和上下文,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动态组织并持续管理完整任务的统一体验。这正是本项目给出的答案。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553712"/>
            <a:ext cx="109728" cy="109728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416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案例研究页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4416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prototype/case-study.html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010912"/>
            <a:ext cx="109728" cy="109728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873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可交互原型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4873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prototype/app.html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468112"/>
            <a:ext cx="109728" cy="109728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3309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低保真线框图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5330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prototype/wireframes.html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2026-08-01T23:23:57Z</dcterms:created>
  <dcterms:modified xsi:type="dcterms:W3CDTF">2026-08-01T23:23:57Z</dcterms:modified>
</cp:coreProperties>
</file>